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Open simply. State the song, the artist, and the central claim. Tell the class you want them to leave with one idea: this song is not only a song about identity. It is a practical theological act that forms believers to live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Anchor the audience. In rooms in Lagos, Nairobi, Accra, Houston, or London, people sing, repeat, and move. That repetition is practical theology in real time. It is theology as practice, training people to carry a new identity out into Monday morning.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Keep context tight. Identify Sinach as a Nigerian gospel artist. Note the song’s spread into Kenyan, Ghanaian, South African, US, and UK churches. Emphasize that the song was designed to be sung by a whole room together, which matters for the practical theology argument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Walk through the four musical features. Make the turn from description to argument: these are not decorative features, they are the machinery that makes the song formative rather than merely expressive. Keep this slide tight so you can move into what the song is actually claiming.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Pause on this slide. Read the lines slowly. Point out that these are first person claims made publicly and communally. This is the pivot: from what the song says to what the song is doing as practical theology.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center of the talk. Slow down here. Make the three moves explicit: name, form, shape. Emphasize that the logic is moving from what the song is saying in the room to how it shapes lives outside the room. This is worship as formation, not decoration.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Zoom out. Argue that in African urban worship, music is often doing the teaching. Make the belief in action point strongly: if I have stood in a room and said I am holy, I am loved, I have a harder time walking out and living as if none of that is true. Close by tying this to public Christian witness.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Land the close. Restate the thesis in plain language: this song forms believers to carry a new identity, and a new responsibility, into their daily lives. Thank the class and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Leave this slide up during questions. The core scholarly anchors are the Ajose and Ayodeji studies on Nigerian Pentecostal music, with Rotimi and Ajose’s prosperity gospel essay both connecting directly to the practical-theology argument.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8686800" y="0"/>
            <a:ext cx="3504895" cy="6858000"/>
          </a:xfrm>
          <a:prstGeom prst="rect">
            <a:avLst/>
          </a:prstGeom>
          <a:solidFill>
            <a:srgbClr val="F1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1463040" cy="1463040"/>
          </a:xfrm>
          <a:prstGeom prst="ellipse">
            <a:avLst/>
          </a:prstGeom>
          <a:noFill/>
          <a:ln w="25400">
            <a:solidFill>
              <a:srgbClr val="C69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66960" y="1097280"/>
            <a:ext cx="914400" cy="914400"/>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822960"/>
            <a:ext cx="10058400" cy="320040"/>
          </a:xfrm>
          <a:prstGeom prst="rect">
            <a:avLst/>
          </a:prstGeom>
          <a:noFill/>
        </p:spPr>
        <p:txBody>
          <a:bodyPr wrap="square" anchor="t" lIns="0" rIns="0" tIns="0" bIns="0">
            <a:spAutoFit/>
          </a:bodyPr>
          <a:lstStyle/>
          <a:p>
            <a:pPr algn="l">
              <a:lnSpc>
                <a:spcPct val="100000"/>
              </a:lnSpc>
            </a:pPr>
            <a:r>
              <a:rPr sz="1200" b="1" i="0">
                <a:solidFill>
                  <a:srgbClr val="8A4B2A"/>
                </a:solidFill>
                <a:latin typeface="Calibri"/>
              </a:rPr>
              <a:t>YALE DIVINITY SCHOOL  ·  FINAL PRESENTATION</a:t>
            </a:r>
          </a:p>
        </p:txBody>
      </p:sp>
      <p:sp>
        <p:nvSpPr>
          <p:cNvPr id="6" name="TextBox 5"/>
          <p:cNvSpPr txBox="1"/>
          <p:nvPr/>
        </p:nvSpPr>
        <p:spPr>
          <a:xfrm>
            <a:off x="731520" y="1280160"/>
            <a:ext cx="8229600" cy="2377440"/>
          </a:xfrm>
          <a:prstGeom prst="rect">
            <a:avLst/>
          </a:prstGeom>
          <a:noFill/>
        </p:spPr>
        <p:txBody>
          <a:bodyPr wrap="square" anchor="t" lIns="0" rIns="0" tIns="0" bIns="0">
            <a:spAutoFit/>
          </a:bodyPr>
          <a:lstStyle/>
          <a:p>
            <a:pPr algn="l">
              <a:lnSpc>
                <a:spcPct val="100000"/>
              </a:lnSpc>
            </a:pPr>
            <a:r>
              <a:rPr sz="6600" b="1" i="0">
                <a:solidFill>
                  <a:srgbClr val="1B1A18"/>
                </a:solidFill>
                <a:latin typeface="Georgia"/>
              </a:rPr>
              <a:t>I Know Who I Am</a:t>
            </a:r>
          </a:p>
        </p:txBody>
      </p:sp>
      <p:sp>
        <p:nvSpPr>
          <p:cNvPr id="7" name="TextBox 6"/>
          <p:cNvSpPr txBox="1"/>
          <p:nvPr/>
        </p:nvSpPr>
        <p:spPr>
          <a:xfrm>
            <a:off x="731520" y="3474720"/>
            <a:ext cx="7772400" cy="1280160"/>
          </a:xfrm>
          <a:prstGeom prst="rect">
            <a:avLst/>
          </a:prstGeom>
          <a:noFill/>
        </p:spPr>
        <p:txBody>
          <a:bodyPr wrap="square" anchor="t" lIns="0" rIns="0" tIns="0" bIns="0">
            <a:spAutoFit/>
          </a:bodyPr>
          <a:lstStyle/>
          <a:p>
            <a:pPr algn="l">
              <a:lnSpc>
                <a:spcPct val="125000"/>
              </a:lnSpc>
            </a:pPr>
            <a:r>
              <a:rPr sz="2200" b="0" i="1">
                <a:solidFill>
                  <a:srgbClr val="3A3630"/>
                </a:solidFill>
                <a:latin typeface="Georgia"/>
              </a:rPr>
              <a:t>A practical theology of African urban worship music</a:t>
            </a:r>
          </a:p>
        </p:txBody>
      </p:sp>
      <p:sp>
        <p:nvSpPr>
          <p:cNvPr id="8" name="Rectangle 7"/>
          <p:cNvSpPr/>
          <p:nvPr/>
        </p:nvSpPr>
        <p:spPr>
          <a:xfrm>
            <a:off x="731520" y="4937760"/>
            <a:ext cx="1920240" cy="18288"/>
          </a:xfrm>
          <a:prstGeom prst="rect">
            <a:avLst/>
          </a:prstGeom>
          <a:solidFill>
            <a:srgbClr val="1B1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029200"/>
            <a:ext cx="1920240" cy="274320"/>
          </a:xfrm>
          <a:prstGeom prst="rect">
            <a:avLst/>
          </a:prstGeom>
          <a:noFill/>
        </p:spPr>
        <p:txBody>
          <a:bodyPr wrap="square" anchor="t" lIns="0" rIns="0" tIns="0" bIns="0">
            <a:spAutoFit/>
          </a:bodyPr>
          <a:lstStyle/>
          <a:p>
            <a:pPr algn="l">
              <a:lnSpc>
                <a:spcPct val="100000"/>
              </a:lnSpc>
            </a:pPr>
            <a:r>
              <a:rPr sz="1000" b="1" i="0">
                <a:solidFill>
                  <a:srgbClr val="6B6358"/>
                </a:solidFill>
                <a:latin typeface="Calibri"/>
              </a:rPr>
              <a:t>SONG</a:t>
            </a:r>
          </a:p>
        </p:txBody>
      </p:sp>
      <p:sp>
        <p:nvSpPr>
          <p:cNvPr id="10" name="TextBox 9"/>
          <p:cNvSpPr txBox="1"/>
          <p:nvPr/>
        </p:nvSpPr>
        <p:spPr>
          <a:xfrm>
            <a:off x="731520" y="5321808"/>
            <a:ext cx="1920240" cy="457200"/>
          </a:xfrm>
          <a:prstGeom prst="rect">
            <a:avLst/>
          </a:prstGeom>
          <a:noFill/>
        </p:spPr>
        <p:txBody>
          <a:bodyPr wrap="square" anchor="t" lIns="0" rIns="0" tIns="0" bIns="0">
            <a:spAutoFit/>
          </a:bodyPr>
          <a:lstStyle/>
          <a:p>
            <a:pPr algn="l">
              <a:lnSpc>
                <a:spcPct val="110000"/>
              </a:lnSpc>
            </a:pPr>
            <a:r>
              <a:rPr sz="1400" b="0" i="0">
                <a:solidFill>
                  <a:srgbClr val="1B1A18"/>
                </a:solidFill>
                <a:latin typeface="Georgia"/>
              </a:rPr>
              <a:t>“I Know Who I Am”</a:t>
            </a:r>
          </a:p>
        </p:txBody>
      </p:sp>
      <p:sp>
        <p:nvSpPr>
          <p:cNvPr id="11" name="Rectangle 10"/>
          <p:cNvSpPr/>
          <p:nvPr/>
        </p:nvSpPr>
        <p:spPr>
          <a:xfrm>
            <a:off x="2697480" y="4937760"/>
            <a:ext cx="1920240" cy="18288"/>
          </a:xfrm>
          <a:prstGeom prst="rect">
            <a:avLst/>
          </a:prstGeom>
          <a:solidFill>
            <a:srgbClr val="1B1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7480" y="5029200"/>
            <a:ext cx="1920240" cy="274320"/>
          </a:xfrm>
          <a:prstGeom prst="rect">
            <a:avLst/>
          </a:prstGeom>
          <a:noFill/>
        </p:spPr>
        <p:txBody>
          <a:bodyPr wrap="square" anchor="t" lIns="0" rIns="0" tIns="0" bIns="0">
            <a:spAutoFit/>
          </a:bodyPr>
          <a:lstStyle/>
          <a:p>
            <a:pPr algn="l">
              <a:lnSpc>
                <a:spcPct val="100000"/>
              </a:lnSpc>
            </a:pPr>
            <a:r>
              <a:rPr sz="1000" b="1" i="0">
                <a:solidFill>
                  <a:srgbClr val="6B6358"/>
                </a:solidFill>
                <a:latin typeface="Calibri"/>
              </a:rPr>
              <a:t>ARTIST</a:t>
            </a:r>
          </a:p>
        </p:txBody>
      </p:sp>
      <p:sp>
        <p:nvSpPr>
          <p:cNvPr id="13" name="TextBox 12"/>
          <p:cNvSpPr txBox="1"/>
          <p:nvPr/>
        </p:nvSpPr>
        <p:spPr>
          <a:xfrm>
            <a:off x="2697480" y="5321808"/>
            <a:ext cx="1920240" cy="457200"/>
          </a:xfrm>
          <a:prstGeom prst="rect">
            <a:avLst/>
          </a:prstGeom>
          <a:noFill/>
        </p:spPr>
        <p:txBody>
          <a:bodyPr wrap="square" anchor="t" lIns="0" rIns="0" tIns="0" bIns="0">
            <a:spAutoFit/>
          </a:bodyPr>
          <a:lstStyle/>
          <a:p>
            <a:pPr algn="l">
              <a:lnSpc>
                <a:spcPct val="110000"/>
              </a:lnSpc>
            </a:pPr>
            <a:r>
              <a:rPr sz="1400" b="0" i="0">
                <a:solidFill>
                  <a:srgbClr val="1B1A18"/>
                </a:solidFill>
                <a:latin typeface="Georgia"/>
              </a:rPr>
              <a:t>Sinach</a:t>
            </a:r>
          </a:p>
        </p:txBody>
      </p:sp>
      <p:sp>
        <p:nvSpPr>
          <p:cNvPr id="14" name="Rectangle 13"/>
          <p:cNvSpPr/>
          <p:nvPr/>
        </p:nvSpPr>
        <p:spPr>
          <a:xfrm>
            <a:off x="4663440" y="4937760"/>
            <a:ext cx="1920240" cy="18288"/>
          </a:xfrm>
          <a:prstGeom prst="rect">
            <a:avLst/>
          </a:prstGeom>
          <a:solidFill>
            <a:srgbClr val="1B1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5029200"/>
            <a:ext cx="1920240" cy="274320"/>
          </a:xfrm>
          <a:prstGeom prst="rect">
            <a:avLst/>
          </a:prstGeom>
          <a:noFill/>
        </p:spPr>
        <p:txBody>
          <a:bodyPr wrap="square" anchor="t" lIns="0" rIns="0" tIns="0" bIns="0">
            <a:spAutoFit/>
          </a:bodyPr>
          <a:lstStyle/>
          <a:p>
            <a:pPr algn="l">
              <a:lnSpc>
                <a:spcPct val="100000"/>
              </a:lnSpc>
            </a:pPr>
            <a:r>
              <a:rPr sz="1000" b="1" i="0">
                <a:solidFill>
                  <a:srgbClr val="6B6358"/>
                </a:solidFill>
                <a:latin typeface="Calibri"/>
              </a:rPr>
              <a:t>COURSE</a:t>
            </a:r>
          </a:p>
        </p:txBody>
      </p:sp>
      <p:sp>
        <p:nvSpPr>
          <p:cNvPr id="16" name="TextBox 15"/>
          <p:cNvSpPr txBox="1"/>
          <p:nvPr/>
        </p:nvSpPr>
        <p:spPr>
          <a:xfrm>
            <a:off x="4663440" y="5321808"/>
            <a:ext cx="1920240" cy="457200"/>
          </a:xfrm>
          <a:prstGeom prst="rect">
            <a:avLst/>
          </a:prstGeom>
          <a:noFill/>
        </p:spPr>
        <p:txBody>
          <a:bodyPr wrap="square" anchor="t" lIns="0" rIns="0" tIns="0" bIns="0">
            <a:spAutoFit/>
          </a:bodyPr>
          <a:lstStyle/>
          <a:p>
            <a:pPr algn="l">
              <a:lnSpc>
                <a:spcPct val="110000"/>
              </a:lnSpc>
            </a:pPr>
            <a:r>
              <a:rPr sz="1400" b="0" i="0">
                <a:solidFill>
                  <a:srgbClr val="1B1A18"/>
                </a:solidFill>
                <a:latin typeface="Georgia"/>
              </a:rPr>
              <a:t>African Urban Worship Music</a:t>
            </a:r>
          </a:p>
        </p:txBody>
      </p:sp>
      <p:sp>
        <p:nvSpPr>
          <p:cNvPr id="17" name="Rectangle 16"/>
          <p:cNvSpPr/>
          <p:nvPr/>
        </p:nvSpPr>
        <p:spPr>
          <a:xfrm>
            <a:off x="6629399" y="4937760"/>
            <a:ext cx="1920240" cy="18288"/>
          </a:xfrm>
          <a:prstGeom prst="rect">
            <a:avLst/>
          </a:prstGeom>
          <a:solidFill>
            <a:srgbClr val="1B1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399" y="5029200"/>
            <a:ext cx="1920240" cy="274320"/>
          </a:xfrm>
          <a:prstGeom prst="rect">
            <a:avLst/>
          </a:prstGeom>
          <a:noFill/>
        </p:spPr>
        <p:txBody>
          <a:bodyPr wrap="square" anchor="t" lIns="0" rIns="0" tIns="0" bIns="0">
            <a:spAutoFit/>
          </a:bodyPr>
          <a:lstStyle/>
          <a:p>
            <a:pPr algn="l">
              <a:lnSpc>
                <a:spcPct val="100000"/>
              </a:lnSpc>
            </a:pPr>
            <a:r>
              <a:rPr sz="1000" b="1" i="0">
                <a:solidFill>
                  <a:srgbClr val="6B6358"/>
                </a:solidFill>
                <a:latin typeface="Calibri"/>
              </a:rPr>
              <a:t>PRESENTER</a:t>
            </a:r>
          </a:p>
        </p:txBody>
      </p:sp>
      <p:sp>
        <p:nvSpPr>
          <p:cNvPr id="19" name="TextBox 18"/>
          <p:cNvSpPr txBox="1"/>
          <p:nvPr/>
        </p:nvSpPr>
        <p:spPr>
          <a:xfrm>
            <a:off x="6629399" y="5321808"/>
            <a:ext cx="1920240" cy="457200"/>
          </a:xfrm>
          <a:prstGeom prst="rect">
            <a:avLst/>
          </a:prstGeom>
          <a:noFill/>
        </p:spPr>
        <p:txBody>
          <a:bodyPr wrap="square" anchor="t" lIns="0" rIns="0" tIns="0" bIns="0">
            <a:spAutoFit/>
          </a:bodyPr>
          <a:lstStyle/>
          <a:p>
            <a:pPr algn="l">
              <a:lnSpc>
                <a:spcPct val="110000"/>
              </a:lnSpc>
            </a:pPr>
            <a:r>
              <a:rPr sz="1400" b="0" i="0">
                <a:solidFill>
                  <a:srgbClr val="1B1A18"/>
                </a:solidFill>
                <a:latin typeface="Georgia"/>
              </a:rPr>
              <a:t>Daniel Baglini</a:t>
            </a:r>
          </a:p>
        </p:txBody>
      </p:sp>
      <p:sp>
        <p:nvSpPr>
          <p:cNvPr id="20" name="TextBox 19"/>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pPr>
            <a:r>
              <a:rPr sz="1000" b="0" i="0">
                <a:solidFill>
                  <a:srgbClr val="6B6358"/>
                </a:solidFill>
                <a:latin typeface="Calibri"/>
              </a:rPr>
              <a:t>I Know Who I Am  ·  Daniel Baglini</a:t>
            </a:r>
          </a:p>
        </p:txBody>
      </p:sp>
      <p:sp>
        <p:nvSpPr>
          <p:cNvPr id="21" name="TextBox 20"/>
          <p:cNvSpPr txBox="1"/>
          <p:nvPr/>
        </p:nvSpPr>
        <p:spPr>
          <a:xfrm>
            <a:off x="10698480" y="6446520"/>
            <a:ext cx="914400" cy="274320"/>
          </a:xfrm>
          <a:prstGeom prst="rect">
            <a:avLst/>
          </a:prstGeom>
          <a:noFill/>
        </p:spPr>
        <p:txBody>
          <a:bodyPr wrap="square" anchor="t" lIns="0" rIns="0" tIns="0" bIns="0">
            <a:spAutoFit/>
          </a:bodyPr>
          <a:lstStyle/>
          <a:p>
            <a:pPr algn="r">
              <a:lnSpc>
                <a:spcPct val="100000"/>
              </a:lnSpc>
            </a:pPr>
            <a:r>
              <a:rPr sz="1000" b="0" i="0">
                <a:solidFill>
                  <a:srgbClr val="6B6358"/>
                </a:solidFill>
                <a:latin typeface="Calibri"/>
              </a:rPr>
              <a:t>01 / 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548640"/>
            <a:ext cx="10058400" cy="320040"/>
          </a:xfrm>
          <a:prstGeom prst="rect">
            <a:avLst/>
          </a:prstGeom>
          <a:noFill/>
        </p:spPr>
        <p:txBody>
          <a:bodyPr wrap="square" anchor="t" lIns="0" rIns="0" tIns="0" bIns="0">
            <a:spAutoFit/>
          </a:bodyPr>
          <a:lstStyle/>
          <a:p>
            <a:pPr algn="l">
              <a:lnSpc>
                <a:spcPct val="100000"/>
              </a:lnSpc>
            </a:pPr>
            <a:r>
              <a:rPr sz="1200" b="1" i="0">
                <a:solidFill>
                  <a:srgbClr val="8A4B2A"/>
                </a:solidFill>
                <a:latin typeface="Calibri"/>
              </a:rPr>
              <a:t>INTRODUCTION</a:t>
            </a:r>
          </a:p>
        </p:txBody>
      </p:sp>
      <p:sp>
        <p:nvSpPr>
          <p:cNvPr id="3" name="Rectangle 2"/>
          <p:cNvSpPr/>
          <p:nvPr/>
        </p:nvSpPr>
        <p:spPr>
          <a:xfrm>
            <a:off x="731520" y="868680"/>
            <a:ext cx="548640" cy="45720"/>
          </a:xfrm>
          <a:prstGeom prst="rect">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698480" cy="1280160"/>
          </a:xfrm>
          <a:prstGeom prst="rect">
            <a:avLst/>
          </a:prstGeom>
          <a:noFill/>
        </p:spPr>
        <p:txBody>
          <a:bodyPr wrap="square" anchor="t" lIns="0" rIns="0" tIns="0" bIns="0">
            <a:spAutoFit/>
          </a:bodyPr>
          <a:lstStyle/>
          <a:p>
            <a:pPr algn="l">
              <a:lnSpc>
                <a:spcPct val="105000"/>
              </a:lnSpc>
            </a:pPr>
            <a:r>
              <a:rPr sz="4000" b="1" i="0">
                <a:solidFill>
                  <a:srgbClr val="1B1A18"/>
                </a:solidFill>
                <a:latin typeface="Georgia"/>
              </a:rPr>
              <a:t>More than a song. A practical theological act.</a:t>
            </a:r>
          </a:p>
        </p:txBody>
      </p:sp>
      <p:sp>
        <p:nvSpPr>
          <p:cNvPr id="5" name="Oval 4"/>
          <p:cNvSpPr/>
          <p:nvPr/>
        </p:nvSpPr>
        <p:spPr>
          <a:xfrm>
            <a:off x="777240" y="285292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5176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Sung across Africa and in the diaspora, not just performed.</a:t>
            </a:r>
          </a:p>
        </p:txBody>
      </p:sp>
      <p:sp>
        <p:nvSpPr>
          <p:cNvPr id="7" name="Oval 6"/>
          <p:cNvSpPr/>
          <p:nvPr/>
        </p:nvSpPr>
        <p:spPr>
          <a:xfrm>
            <a:off x="777240" y="372160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52044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Repetition and participation are formation, not decoration.</a:t>
            </a:r>
          </a:p>
        </p:txBody>
      </p:sp>
      <p:sp>
        <p:nvSpPr>
          <p:cNvPr id="9" name="Oval 8"/>
          <p:cNvSpPr/>
          <p:nvPr/>
        </p:nvSpPr>
        <p:spPr>
          <a:xfrm>
            <a:off x="777240" y="459028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438912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The song trains worshippers to carry a new identity into daily life.</a:t>
            </a:r>
          </a:p>
        </p:txBody>
      </p:sp>
      <p:sp>
        <p:nvSpPr>
          <p:cNvPr id="11" name="TextBox 10"/>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pPr>
            <a:r>
              <a:rPr sz="1000" b="0" i="0">
                <a:solidFill>
                  <a:srgbClr val="6B6358"/>
                </a:solidFill>
                <a:latin typeface="Calibri"/>
              </a:rPr>
              <a:t>I Know Who I Am  ·  Daniel Baglini</a:t>
            </a:r>
          </a:p>
        </p:txBody>
      </p:sp>
      <p:sp>
        <p:nvSpPr>
          <p:cNvPr id="12" name="TextBox 11"/>
          <p:cNvSpPr txBox="1"/>
          <p:nvPr/>
        </p:nvSpPr>
        <p:spPr>
          <a:xfrm>
            <a:off x="10698480" y="6446520"/>
            <a:ext cx="914400" cy="274320"/>
          </a:xfrm>
          <a:prstGeom prst="rect">
            <a:avLst/>
          </a:prstGeom>
          <a:noFill/>
        </p:spPr>
        <p:txBody>
          <a:bodyPr wrap="square" anchor="t" lIns="0" rIns="0" tIns="0" bIns="0">
            <a:spAutoFit/>
          </a:bodyPr>
          <a:lstStyle/>
          <a:p>
            <a:pPr algn="r">
              <a:lnSpc>
                <a:spcPct val="100000"/>
              </a:lnSpc>
            </a:pPr>
            <a:r>
              <a:rPr sz="1000" b="0" i="0">
                <a:solidFill>
                  <a:srgbClr val="6B6358"/>
                </a:solidFill>
                <a:latin typeface="Calibri"/>
              </a:rPr>
              <a:t>02 / 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548640"/>
            <a:ext cx="10058400" cy="320040"/>
          </a:xfrm>
          <a:prstGeom prst="rect">
            <a:avLst/>
          </a:prstGeom>
          <a:noFill/>
        </p:spPr>
        <p:txBody>
          <a:bodyPr wrap="square" anchor="t" lIns="0" rIns="0" tIns="0" bIns="0">
            <a:spAutoFit/>
          </a:bodyPr>
          <a:lstStyle/>
          <a:p>
            <a:pPr algn="l">
              <a:lnSpc>
                <a:spcPct val="100000"/>
              </a:lnSpc>
            </a:pPr>
            <a:r>
              <a:rPr sz="1200" b="1" i="0">
                <a:solidFill>
                  <a:srgbClr val="8A4B2A"/>
                </a:solidFill>
                <a:latin typeface="Calibri"/>
              </a:rPr>
              <a:t>SONG AND ARTIST CONTEXT</a:t>
            </a:r>
          </a:p>
        </p:txBody>
      </p:sp>
      <p:sp>
        <p:nvSpPr>
          <p:cNvPr id="3" name="Rectangle 2"/>
          <p:cNvSpPr/>
          <p:nvPr/>
        </p:nvSpPr>
        <p:spPr>
          <a:xfrm>
            <a:off x="731520" y="868680"/>
            <a:ext cx="548640" cy="45720"/>
          </a:xfrm>
          <a:prstGeom prst="rect">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698480" cy="1280160"/>
          </a:xfrm>
          <a:prstGeom prst="rect">
            <a:avLst/>
          </a:prstGeom>
          <a:noFill/>
        </p:spPr>
        <p:txBody>
          <a:bodyPr wrap="square" anchor="t" lIns="0" rIns="0" tIns="0" bIns="0">
            <a:spAutoFit/>
          </a:bodyPr>
          <a:lstStyle/>
          <a:p>
            <a:pPr algn="l">
              <a:lnSpc>
                <a:spcPct val="105000"/>
              </a:lnSpc>
            </a:pPr>
            <a:r>
              <a:rPr sz="4000" b="1" i="0">
                <a:solidFill>
                  <a:srgbClr val="1B1A18"/>
                </a:solidFill>
                <a:latin typeface="Georgia"/>
              </a:rPr>
              <a:t>Sinach and a song that traveled.</a:t>
            </a:r>
          </a:p>
        </p:txBody>
      </p:sp>
      <p:sp>
        <p:nvSpPr>
          <p:cNvPr id="5" name="Oval 4"/>
          <p:cNvSpPr/>
          <p:nvPr/>
        </p:nvSpPr>
        <p:spPr>
          <a:xfrm>
            <a:off x="777240" y="285292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5176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Sinach: Nigerian gospel artist, associated with Christ Embassy.</a:t>
            </a:r>
          </a:p>
        </p:txBody>
      </p:sp>
      <p:sp>
        <p:nvSpPr>
          <p:cNvPr id="7" name="Oval 6"/>
          <p:cNvSpPr/>
          <p:nvPr/>
        </p:nvSpPr>
        <p:spPr>
          <a:xfrm>
            <a:off x="777240" y="372160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52044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Circulates in churches across Africa, the diaspora, and beyond.</a:t>
            </a:r>
          </a:p>
        </p:txBody>
      </p:sp>
      <p:sp>
        <p:nvSpPr>
          <p:cNvPr id="9" name="Oval 8"/>
          <p:cNvSpPr/>
          <p:nvPr/>
        </p:nvSpPr>
        <p:spPr>
          <a:xfrm>
            <a:off x="777240" y="459028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438912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An example of African worship music moving transnationally.</a:t>
            </a:r>
          </a:p>
        </p:txBody>
      </p:sp>
      <p:sp>
        <p:nvSpPr>
          <p:cNvPr id="11" name="Oval 10"/>
          <p:cNvSpPr/>
          <p:nvPr/>
        </p:nvSpPr>
        <p:spPr>
          <a:xfrm>
            <a:off x="777240" y="545896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525780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Built for participation, not performance.</a:t>
            </a:r>
          </a:p>
        </p:txBody>
      </p:sp>
      <p:sp>
        <p:nvSpPr>
          <p:cNvPr id="13" name="TextBox 12"/>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pPr>
            <a:r>
              <a:rPr sz="1000" b="0" i="0">
                <a:solidFill>
                  <a:srgbClr val="6B6358"/>
                </a:solidFill>
                <a:latin typeface="Calibri"/>
              </a:rPr>
              <a:t>I Know Who I Am  ·  Daniel Baglini</a:t>
            </a:r>
          </a:p>
        </p:txBody>
      </p:sp>
      <p:sp>
        <p:nvSpPr>
          <p:cNvPr id="14" name="TextBox 13"/>
          <p:cNvSpPr txBox="1"/>
          <p:nvPr/>
        </p:nvSpPr>
        <p:spPr>
          <a:xfrm>
            <a:off x="10698480" y="6446520"/>
            <a:ext cx="914400" cy="274320"/>
          </a:xfrm>
          <a:prstGeom prst="rect">
            <a:avLst/>
          </a:prstGeom>
          <a:noFill/>
        </p:spPr>
        <p:txBody>
          <a:bodyPr wrap="square" anchor="t" lIns="0" rIns="0" tIns="0" bIns="0">
            <a:spAutoFit/>
          </a:bodyPr>
          <a:lstStyle/>
          <a:p>
            <a:pPr algn="r">
              <a:lnSpc>
                <a:spcPct val="100000"/>
              </a:lnSpc>
            </a:pPr>
            <a:r>
              <a:rPr sz="1000" b="0" i="0">
                <a:solidFill>
                  <a:srgbClr val="6B6358"/>
                </a:solidFill>
                <a:latin typeface="Calibri"/>
              </a:rPr>
              <a:t>03 / 09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548640"/>
            <a:ext cx="10058400" cy="320040"/>
          </a:xfrm>
          <a:prstGeom prst="rect">
            <a:avLst/>
          </a:prstGeom>
          <a:noFill/>
        </p:spPr>
        <p:txBody>
          <a:bodyPr wrap="square" anchor="t" lIns="0" rIns="0" tIns="0" bIns="0">
            <a:spAutoFit/>
          </a:bodyPr>
          <a:lstStyle/>
          <a:p>
            <a:pPr algn="l">
              <a:lnSpc>
                <a:spcPct val="100000"/>
              </a:lnSpc>
            </a:pPr>
            <a:r>
              <a:rPr sz="1200" b="1" i="0">
                <a:solidFill>
                  <a:srgbClr val="8A4B2A"/>
                </a:solidFill>
                <a:latin typeface="Calibri"/>
              </a:rPr>
              <a:t>WHAT THE SONG DOES</a:t>
            </a:r>
          </a:p>
        </p:txBody>
      </p:sp>
      <p:sp>
        <p:nvSpPr>
          <p:cNvPr id="3" name="Rectangle 2"/>
          <p:cNvSpPr/>
          <p:nvPr/>
        </p:nvSpPr>
        <p:spPr>
          <a:xfrm>
            <a:off x="731520" y="868680"/>
            <a:ext cx="548640" cy="45720"/>
          </a:xfrm>
          <a:prstGeom prst="rect">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698480" cy="1280160"/>
          </a:xfrm>
          <a:prstGeom prst="rect">
            <a:avLst/>
          </a:prstGeom>
          <a:noFill/>
        </p:spPr>
        <p:txBody>
          <a:bodyPr wrap="square" anchor="t" lIns="0" rIns="0" tIns="0" bIns="0">
            <a:spAutoFit/>
          </a:bodyPr>
          <a:lstStyle/>
          <a:p>
            <a:pPr algn="l">
              <a:lnSpc>
                <a:spcPct val="105000"/>
              </a:lnSpc>
            </a:pPr>
            <a:r>
              <a:rPr sz="4000" b="1" i="0">
                <a:solidFill>
                  <a:srgbClr val="1B1A18"/>
                </a:solidFill>
                <a:latin typeface="Georgia"/>
              </a:rPr>
              <a:t>Music as formation.</a:t>
            </a:r>
          </a:p>
        </p:txBody>
      </p:sp>
      <p:sp>
        <p:nvSpPr>
          <p:cNvPr id="5" name="Oval 4"/>
          <p:cNvSpPr/>
          <p:nvPr/>
        </p:nvSpPr>
        <p:spPr>
          <a:xfrm>
            <a:off x="777240" y="285292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5176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Repetition: the chorus presses the same claims into memory.</a:t>
            </a:r>
          </a:p>
        </p:txBody>
      </p:sp>
      <p:sp>
        <p:nvSpPr>
          <p:cNvPr id="7" name="Oval 6"/>
          <p:cNvSpPr/>
          <p:nvPr/>
        </p:nvSpPr>
        <p:spPr>
          <a:xfrm>
            <a:off x="777240" y="372160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52044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Call and response: leader sets the line, the room answers.</a:t>
            </a:r>
          </a:p>
        </p:txBody>
      </p:sp>
      <p:sp>
        <p:nvSpPr>
          <p:cNvPr id="9" name="Oval 8"/>
          <p:cNvSpPr/>
          <p:nvPr/>
        </p:nvSpPr>
        <p:spPr>
          <a:xfrm>
            <a:off x="777240" y="459028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438912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Rhythm and groove: the song is moved to, not only listened to.</a:t>
            </a:r>
          </a:p>
        </p:txBody>
      </p:sp>
      <p:sp>
        <p:nvSpPr>
          <p:cNvPr id="11" name="Oval 10"/>
          <p:cNvSpPr/>
          <p:nvPr/>
        </p:nvSpPr>
        <p:spPr>
          <a:xfrm>
            <a:off x="777240" y="545896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525780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Embodied worship: sung with the whole body, not only the head.</a:t>
            </a:r>
          </a:p>
        </p:txBody>
      </p:sp>
      <p:sp>
        <p:nvSpPr>
          <p:cNvPr id="13" name="TextBox 12"/>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pPr>
            <a:r>
              <a:rPr sz="1000" b="0" i="0">
                <a:solidFill>
                  <a:srgbClr val="6B6358"/>
                </a:solidFill>
                <a:latin typeface="Calibri"/>
              </a:rPr>
              <a:t>I Know Who I Am  ·  Daniel Baglini</a:t>
            </a:r>
          </a:p>
        </p:txBody>
      </p:sp>
      <p:sp>
        <p:nvSpPr>
          <p:cNvPr id="14" name="TextBox 13"/>
          <p:cNvSpPr txBox="1"/>
          <p:nvPr/>
        </p:nvSpPr>
        <p:spPr>
          <a:xfrm>
            <a:off x="10698480" y="6446520"/>
            <a:ext cx="914400" cy="274320"/>
          </a:xfrm>
          <a:prstGeom prst="rect">
            <a:avLst/>
          </a:prstGeom>
          <a:noFill/>
        </p:spPr>
        <p:txBody>
          <a:bodyPr wrap="square" anchor="t" lIns="0" rIns="0" tIns="0" bIns="0">
            <a:spAutoFit/>
          </a:bodyPr>
          <a:lstStyle/>
          <a:p>
            <a:pPr algn="r">
              <a:lnSpc>
                <a:spcPct val="100000"/>
              </a:lnSpc>
            </a:pPr>
            <a:r>
              <a:rPr sz="1000" b="0" i="0">
                <a:solidFill>
                  <a:srgbClr val="6B6358"/>
                </a:solidFill>
                <a:latin typeface="Calibri"/>
              </a:rPr>
              <a:t>04 / 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548640"/>
            <a:ext cx="10058400" cy="320040"/>
          </a:xfrm>
          <a:prstGeom prst="rect">
            <a:avLst/>
          </a:prstGeom>
          <a:noFill/>
        </p:spPr>
        <p:txBody>
          <a:bodyPr wrap="square" anchor="t" lIns="0" rIns="0" tIns="0" bIns="0">
            <a:spAutoFit/>
          </a:bodyPr>
          <a:lstStyle/>
          <a:p>
            <a:pPr algn="l">
              <a:lnSpc>
                <a:spcPct val="100000"/>
              </a:lnSpc>
            </a:pPr>
            <a:r>
              <a:rPr sz="1200" b="1" i="0">
                <a:solidFill>
                  <a:srgbClr val="8A4B2A"/>
                </a:solidFill>
                <a:latin typeface="Calibri"/>
              </a:rPr>
              <a:t>WHAT THE SONG SAYS</a:t>
            </a:r>
          </a:p>
        </p:txBody>
      </p:sp>
      <p:sp>
        <p:nvSpPr>
          <p:cNvPr id="3" name="Rectangle 2"/>
          <p:cNvSpPr/>
          <p:nvPr/>
        </p:nvSpPr>
        <p:spPr>
          <a:xfrm>
            <a:off x="731520" y="868680"/>
            <a:ext cx="548640" cy="45720"/>
          </a:xfrm>
          <a:prstGeom prst="rect">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698480" cy="1280160"/>
          </a:xfrm>
          <a:prstGeom prst="rect">
            <a:avLst/>
          </a:prstGeom>
          <a:noFill/>
        </p:spPr>
        <p:txBody>
          <a:bodyPr wrap="square" anchor="t" lIns="0" rIns="0" tIns="0" bIns="0">
            <a:spAutoFit/>
          </a:bodyPr>
          <a:lstStyle/>
          <a:p>
            <a:pPr algn="l">
              <a:lnSpc>
                <a:spcPct val="105000"/>
              </a:lnSpc>
            </a:pPr>
            <a:r>
              <a:rPr sz="3600" b="1" i="0">
                <a:solidFill>
                  <a:srgbClr val="1B1A18"/>
                </a:solidFill>
                <a:latin typeface="Georgia"/>
              </a:rPr>
              <a:t>Identity claimed in the first person.</a:t>
            </a:r>
          </a:p>
        </p:txBody>
      </p:sp>
      <p:sp>
        <p:nvSpPr>
          <p:cNvPr id="5" name="Rectangle 4"/>
          <p:cNvSpPr/>
          <p:nvPr/>
        </p:nvSpPr>
        <p:spPr>
          <a:xfrm>
            <a:off x="731520" y="2743200"/>
            <a:ext cx="5669280" cy="3108960"/>
          </a:xfrm>
          <a:prstGeom prst="rect">
            <a:avLst/>
          </a:prstGeom>
          <a:solidFill>
            <a:srgbClr val="F1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743200"/>
            <a:ext cx="73152" cy="3108960"/>
          </a:xfrm>
          <a:prstGeom prst="rect">
            <a:avLst/>
          </a:prstGeom>
          <a:solidFill>
            <a:srgbClr val="C69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017520"/>
            <a:ext cx="5120640" cy="2560320"/>
          </a:xfrm>
          <a:prstGeom prst="rect">
            <a:avLst/>
          </a:prstGeom>
          <a:noFill/>
        </p:spPr>
        <p:txBody>
          <a:bodyPr wrap="square">
            <a:spAutoFit/>
          </a:bodyPr>
          <a:lstStyle/>
          <a:p>
            <a:pPr algn="l">
              <a:lnSpc>
                <a:spcPct val="150000"/>
              </a:lnSpc>
            </a:pPr>
            <a:r>
              <a:rPr sz="2200" i="1">
                <a:solidFill>
                  <a:srgbClr val="1B1A18"/>
                </a:solidFill>
                <a:latin typeface="Georgia"/>
              </a:rPr>
              <a:t>“I know who God says I am”</a:t>
            </a:r>
          </a:p>
          <a:p>
            <a:pPr algn="l">
              <a:lnSpc>
                <a:spcPct val="150000"/>
              </a:lnSpc>
            </a:pPr>
            <a:r>
              <a:rPr sz="2200" i="1">
                <a:solidFill>
                  <a:srgbClr val="1B1A18"/>
                </a:solidFill>
                <a:latin typeface="Georgia"/>
              </a:rPr>
              <a:t>“I am holy”</a:t>
            </a:r>
          </a:p>
          <a:p>
            <a:pPr algn="l">
              <a:lnSpc>
                <a:spcPct val="150000"/>
              </a:lnSpc>
            </a:pPr>
            <a:r>
              <a:rPr sz="2200" i="1">
                <a:solidFill>
                  <a:srgbClr val="1B1A18"/>
                </a:solidFill>
                <a:latin typeface="Georgia"/>
              </a:rPr>
              <a:t>“I am righteous”</a:t>
            </a:r>
          </a:p>
          <a:p>
            <a:pPr algn="l">
              <a:lnSpc>
                <a:spcPct val="150000"/>
              </a:lnSpc>
            </a:pPr>
            <a:r>
              <a:rPr sz="2200" i="1">
                <a:solidFill>
                  <a:srgbClr val="1B1A18"/>
                </a:solidFill>
                <a:latin typeface="Georgia"/>
              </a:rPr>
              <a:t>“I am so rich”</a:t>
            </a:r>
          </a:p>
        </p:txBody>
      </p:sp>
      <p:sp>
        <p:nvSpPr>
          <p:cNvPr id="8" name="TextBox 7"/>
          <p:cNvSpPr txBox="1"/>
          <p:nvPr/>
        </p:nvSpPr>
        <p:spPr>
          <a:xfrm>
            <a:off x="6766560" y="2834640"/>
            <a:ext cx="4754880" cy="3108960"/>
          </a:xfrm>
          <a:prstGeom prst="rect">
            <a:avLst/>
          </a:prstGeom>
          <a:noFill/>
        </p:spPr>
        <p:txBody>
          <a:bodyPr wrap="square" anchor="t" lIns="0" rIns="0" tIns="0" bIns="0">
            <a:spAutoFit/>
          </a:bodyPr>
          <a:lstStyle/>
          <a:p>
            <a:pPr algn="l">
              <a:lnSpc>
                <a:spcPct val="135000"/>
              </a:lnSpc>
            </a:pPr>
            <a:r>
              <a:rPr sz="2000" b="0" i="0">
                <a:solidFill>
                  <a:srgbClr val="3A3630"/>
                </a:solidFill>
                <a:latin typeface="Georgia"/>
              </a:rPr>
              <a:t>These are first person affirmations made out loud and made together. The singer is not quoting someone else. They are claiming the identity themselves, and the room is claiming it with them. The identity being sung is public, communal, and on its way to becoming practice.</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pPr>
            <a:r>
              <a:rPr sz="1000" b="0" i="0">
                <a:solidFill>
                  <a:srgbClr val="6B6358"/>
                </a:solidFill>
                <a:latin typeface="Calibri"/>
              </a:rPr>
              <a:t>I Know Who I Am  ·  Daniel Baglini</a:t>
            </a:r>
          </a:p>
        </p:txBody>
      </p:sp>
      <p:sp>
        <p:nvSpPr>
          <p:cNvPr id="10" name="TextBox 9"/>
          <p:cNvSpPr txBox="1"/>
          <p:nvPr/>
        </p:nvSpPr>
        <p:spPr>
          <a:xfrm>
            <a:off x="10698480" y="6446520"/>
            <a:ext cx="914400" cy="274320"/>
          </a:xfrm>
          <a:prstGeom prst="rect">
            <a:avLst/>
          </a:prstGeom>
          <a:noFill/>
        </p:spPr>
        <p:txBody>
          <a:bodyPr wrap="square" anchor="t" lIns="0" rIns="0" tIns="0" bIns="0">
            <a:spAutoFit/>
          </a:bodyPr>
          <a:lstStyle/>
          <a:p>
            <a:pPr algn="r">
              <a:lnSpc>
                <a:spcPct val="100000"/>
              </a:lnSpc>
            </a:pPr>
            <a:r>
              <a:rPr sz="1000" b="0" i="0">
                <a:solidFill>
                  <a:srgbClr val="6B6358"/>
                </a:solidFill>
                <a:latin typeface="Calibri"/>
              </a:rPr>
              <a:t>05 / 09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A1E17"/>
        </a:solidFill>
        <a:effectLst/>
      </p:bgPr>
    </p:bg>
    <p:spTree>
      <p:nvGrpSpPr>
        <p:cNvPr id="1" name=""/>
        <p:cNvGrpSpPr/>
        <p:nvPr/>
      </p:nvGrpSpPr>
      <p:grpSpPr/>
      <p:sp>
        <p:nvSpPr>
          <p:cNvPr id="2" name="Rectangle 1"/>
          <p:cNvSpPr/>
          <p:nvPr/>
        </p:nvSpPr>
        <p:spPr>
          <a:xfrm>
            <a:off x="5824728" y="685800"/>
            <a:ext cx="548640" cy="45720"/>
          </a:xfrm>
          <a:prstGeom prst="rect">
            <a:avLst/>
          </a:prstGeom>
          <a:solidFill>
            <a:srgbClr val="C69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698480" cy="365760"/>
          </a:xfrm>
          <a:prstGeom prst="rect">
            <a:avLst/>
          </a:prstGeom>
          <a:noFill/>
        </p:spPr>
        <p:txBody>
          <a:bodyPr wrap="square" anchor="t" lIns="0" rIns="0" tIns="0" bIns="0">
            <a:spAutoFit/>
          </a:bodyPr>
          <a:lstStyle/>
          <a:p>
            <a:pPr algn="ctr">
              <a:lnSpc>
                <a:spcPct val="100000"/>
              </a:lnSpc>
            </a:pPr>
            <a:r>
              <a:rPr sz="1200" b="1" i="0">
                <a:solidFill>
                  <a:srgbClr val="C69B52"/>
                </a:solidFill>
                <a:latin typeface="Calibri"/>
              </a:rPr>
              <a:t>PRACTICAL THEOLOGY</a:t>
            </a:r>
          </a:p>
        </p:txBody>
      </p:sp>
      <p:sp>
        <p:nvSpPr>
          <p:cNvPr id="4" name="TextBox 3"/>
          <p:cNvSpPr txBox="1"/>
          <p:nvPr/>
        </p:nvSpPr>
        <p:spPr>
          <a:xfrm>
            <a:off x="731520" y="1280160"/>
            <a:ext cx="10698480" cy="914400"/>
          </a:xfrm>
          <a:prstGeom prst="rect">
            <a:avLst/>
          </a:prstGeom>
          <a:noFill/>
        </p:spPr>
        <p:txBody>
          <a:bodyPr wrap="square" anchor="t" lIns="0" rIns="0" tIns="0" bIns="0">
            <a:spAutoFit/>
          </a:bodyPr>
          <a:lstStyle/>
          <a:p>
            <a:pPr algn="ctr">
              <a:lnSpc>
                <a:spcPct val="105000"/>
              </a:lnSpc>
            </a:pPr>
            <a:r>
              <a:rPr sz="4400" b="1" i="0">
                <a:solidFill>
                  <a:srgbClr val="FAF7F2"/>
                </a:solidFill>
                <a:latin typeface="Georgia"/>
              </a:rPr>
              <a:t>From worship to action.</a:t>
            </a:r>
          </a:p>
        </p:txBody>
      </p:sp>
      <p:sp>
        <p:nvSpPr>
          <p:cNvPr id="5" name="TextBox 4"/>
          <p:cNvSpPr txBox="1"/>
          <p:nvPr/>
        </p:nvSpPr>
        <p:spPr>
          <a:xfrm>
            <a:off x="1828800" y="2240280"/>
            <a:ext cx="8503920" cy="914400"/>
          </a:xfrm>
          <a:prstGeom prst="rect">
            <a:avLst/>
          </a:prstGeom>
          <a:noFill/>
        </p:spPr>
        <p:txBody>
          <a:bodyPr wrap="square" anchor="t" lIns="0" rIns="0" tIns="0" bIns="0">
            <a:spAutoFit/>
          </a:bodyPr>
          <a:lstStyle/>
          <a:p>
            <a:pPr algn="ctr">
              <a:lnSpc>
                <a:spcPct val="135000"/>
              </a:lnSpc>
            </a:pPr>
            <a:r>
              <a:rPr sz="1800" b="0" i="1">
                <a:solidFill>
                  <a:srgbClr val="D9CEBD"/>
                </a:solidFill>
                <a:latin typeface="Georgia"/>
              </a:rPr>
              <a:t>What we are watching is practical theology: worship that forms believers to live differently in the world.</a:t>
            </a:r>
          </a:p>
        </p:txBody>
      </p:sp>
      <p:sp>
        <p:nvSpPr>
          <p:cNvPr id="6" name="Rectangle 5"/>
          <p:cNvSpPr/>
          <p:nvPr/>
        </p:nvSpPr>
        <p:spPr>
          <a:xfrm>
            <a:off x="548640" y="3566160"/>
            <a:ext cx="3545738" cy="2468880"/>
          </a:xfrm>
          <a:prstGeom prst="rect">
            <a:avLst/>
          </a:prstGeom>
          <a:solidFill>
            <a:srgbClr val="3A2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3566160"/>
            <a:ext cx="3545738" cy="54864"/>
          </a:xfrm>
          <a:prstGeom prst="rect">
            <a:avLst/>
          </a:prstGeom>
          <a:solidFill>
            <a:srgbClr val="C69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794760"/>
            <a:ext cx="2814218" cy="822960"/>
          </a:xfrm>
          <a:prstGeom prst="rect">
            <a:avLst/>
          </a:prstGeom>
          <a:noFill/>
        </p:spPr>
        <p:txBody>
          <a:bodyPr wrap="square" anchor="t" lIns="0" rIns="0" tIns="0" bIns="0">
            <a:spAutoFit/>
          </a:bodyPr>
          <a:lstStyle/>
          <a:p>
            <a:pPr algn="l">
              <a:lnSpc>
                <a:spcPct val="100000"/>
              </a:lnSpc>
            </a:pPr>
            <a:r>
              <a:rPr sz="4600" b="1" i="0">
                <a:solidFill>
                  <a:srgbClr val="C69B52"/>
                </a:solidFill>
                <a:latin typeface="Georgia"/>
              </a:rPr>
              <a:t>01</a:t>
            </a:r>
          </a:p>
        </p:txBody>
      </p:sp>
      <p:sp>
        <p:nvSpPr>
          <p:cNvPr id="9" name="TextBox 8"/>
          <p:cNvSpPr txBox="1"/>
          <p:nvPr/>
        </p:nvSpPr>
        <p:spPr>
          <a:xfrm>
            <a:off x="914400" y="4572000"/>
            <a:ext cx="2814218" cy="457200"/>
          </a:xfrm>
          <a:prstGeom prst="rect">
            <a:avLst/>
          </a:prstGeom>
          <a:noFill/>
        </p:spPr>
        <p:txBody>
          <a:bodyPr wrap="square" anchor="t" lIns="0" rIns="0" tIns="0" bIns="0">
            <a:spAutoFit/>
          </a:bodyPr>
          <a:lstStyle/>
          <a:p>
            <a:pPr algn="l">
              <a:lnSpc>
                <a:spcPct val="110000"/>
              </a:lnSpc>
            </a:pPr>
            <a:r>
              <a:rPr sz="1600" b="1" i="0">
                <a:solidFill>
                  <a:srgbClr val="FAF7F2"/>
                </a:solidFill>
                <a:latin typeface="Calibri"/>
              </a:rPr>
              <a:t>Names identity</a:t>
            </a:r>
          </a:p>
        </p:txBody>
      </p:sp>
      <p:sp>
        <p:nvSpPr>
          <p:cNvPr id="10" name="TextBox 9"/>
          <p:cNvSpPr txBox="1"/>
          <p:nvPr/>
        </p:nvSpPr>
        <p:spPr>
          <a:xfrm>
            <a:off x="914400" y="5074920"/>
            <a:ext cx="2814218" cy="822960"/>
          </a:xfrm>
          <a:prstGeom prst="rect">
            <a:avLst/>
          </a:prstGeom>
          <a:noFill/>
        </p:spPr>
        <p:txBody>
          <a:bodyPr wrap="square" anchor="t" lIns="0" rIns="0" tIns="0" bIns="0">
            <a:spAutoFit/>
          </a:bodyPr>
          <a:lstStyle/>
          <a:p>
            <a:pPr algn="l">
              <a:lnSpc>
                <a:spcPct val="135000"/>
              </a:lnSpc>
            </a:pPr>
            <a:r>
              <a:rPr sz="1400" b="0" i="0">
                <a:solidFill>
                  <a:srgbClr val="D9CEBD"/>
                </a:solidFill>
                <a:latin typeface="Georgia"/>
              </a:rPr>
              <a:t>The song gives worshippers specific language about who they are before God: holy, righteous, loved, chosen.</a:t>
            </a:r>
          </a:p>
        </p:txBody>
      </p:sp>
      <p:sp>
        <p:nvSpPr>
          <p:cNvPr id="11" name="Rectangle 10"/>
          <p:cNvSpPr/>
          <p:nvPr/>
        </p:nvSpPr>
        <p:spPr>
          <a:xfrm>
            <a:off x="4322978" y="3566160"/>
            <a:ext cx="3545738" cy="2468880"/>
          </a:xfrm>
          <a:prstGeom prst="rect">
            <a:avLst/>
          </a:prstGeom>
          <a:solidFill>
            <a:srgbClr val="3A2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2978" y="3566160"/>
            <a:ext cx="3545738" cy="54864"/>
          </a:xfrm>
          <a:prstGeom prst="rect">
            <a:avLst/>
          </a:prstGeom>
          <a:solidFill>
            <a:srgbClr val="C69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8738" y="3794760"/>
            <a:ext cx="2814218" cy="822960"/>
          </a:xfrm>
          <a:prstGeom prst="rect">
            <a:avLst/>
          </a:prstGeom>
          <a:noFill/>
        </p:spPr>
        <p:txBody>
          <a:bodyPr wrap="square" anchor="t" lIns="0" rIns="0" tIns="0" bIns="0">
            <a:spAutoFit/>
          </a:bodyPr>
          <a:lstStyle/>
          <a:p>
            <a:pPr algn="l">
              <a:lnSpc>
                <a:spcPct val="100000"/>
              </a:lnSpc>
            </a:pPr>
            <a:r>
              <a:rPr sz="4600" b="1" i="0">
                <a:solidFill>
                  <a:srgbClr val="C69B52"/>
                </a:solidFill>
                <a:latin typeface="Georgia"/>
              </a:rPr>
              <a:t>02</a:t>
            </a:r>
          </a:p>
        </p:txBody>
      </p:sp>
      <p:sp>
        <p:nvSpPr>
          <p:cNvPr id="14" name="TextBox 13"/>
          <p:cNvSpPr txBox="1"/>
          <p:nvPr/>
        </p:nvSpPr>
        <p:spPr>
          <a:xfrm>
            <a:off x="4688738" y="4572000"/>
            <a:ext cx="2814218" cy="457200"/>
          </a:xfrm>
          <a:prstGeom prst="rect">
            <a:avLst/>
          </a:prstGeom>
          <a:noFill/>
        </p:spPr>
        <p:txBody>
          <a:bodyPr wrap="square" anchor="t" lIns="0" rIns="0" tIns="0" bIns="0">
            <a:spAutoFit/>
          </a:bodyPr>
          <a:lstStyle/>
          <a:p>
            <a:pPr algn="l">
              <a:lnSpc>
                <a:spcPct val="110000"/>
              </a:lnSpc>
            </a:pPr>
            <a:r>
              <a:rPr sz="1600" b="1" i="0">
                <a:solidFill>
                  <a:srgbClr val="FAF7F2"/>
                </a:solidFill>
                <a:latin typeface="Calibri"/>
              </a:rPr>
              <a:t>Forms disposition</a:t>
            </a:r>
          </a:p>
        </p:txBody>
      </p:sp>
      <p:sp>
        <p:nvSpPr>
          <p:cNvPr id="15" name="TextBox 14"/>
          <p:cNvSpPr txBox="1"/>
          <p:nvPr/>
        </p:nvSpPr>
        <p:spPr>
          <a:xfrm>
            <a:off x="4688738" y="5074920"/>
            <a:ext cx="2814218" cy="822960"/>
          </a:xfrm>
          <a:prstGeom prst="rect">
            <a:avLst/>
          </a:prstGeom>
          <a:noFill/>
        </p:spPr>
        <p:txBody>
          <a:bodyPr wrap="square" anchor="t" lIns="0" rIns="0" tIns="0" bIns="0">
            <a:spAutoFit/>
          </a:bodyPr>
          <a:lstStyle/>
          <a:p>
            <a:pPr algn="l">
              <a:lnSpc>
                <a:spcPct val="135000"/>
              </a:lnSpc>
            </a:pPr>
            <a:r>
              <a:rPr sz="1400" b="0" i="0">
                <a:solidFill>
                  <a:srgbClr val="D9CEBD"/>
                </a:solidFill>
                <a:latin typeface="Georgia"/>
              </a:rPr>
              <a:t>Weekly repetition shapes how people carry themselves. Confidence, dignity, and a sense of what they owe each other become habits, not moods.</a:t>
            </a:r>
          </a:p>
        </p:txBody>
      </p:sp>
      <p:sp>
        <p:nvSpPr>
          <p:cNvPr id="16" name="Rectangle 15"/>
          <p:cNvSpPr/>
          <p:nvPr/>
        </p:nvSpPr>
        <p:spPr>
          <a:xfrm>
            <a:off x="8097316" y="3566160"/>
            <a:ext cx="3545738" cy="2468880"/>
          </a:xfrm>
          <a:prstGeom prst="rect">
            <a:avLst/>
          </a:prstGeom>
          <a:solidFill>
            <a:srgbClr val="3A2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7316" y="3566160"/>
            <a:ext cx="3545738" cy="54864"/>
          </a:xfrm>
          <a:prstGeom prst="rect">
            <a:avLst/>
          </a:prstGeom>
          <a:solidFill>
            <a:srgbClr val="C69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3794760"/>
            <a:ext cx="2814218" cy="822960"/>
          </a:xfrm>
          <a:prstGeom prst="rect">
            <a:avLst/>
          </a:prstGeom>
          <a:noFill/>
        </p:spPr>
        <p:txBody>
          <a:bodyPr wrap="square" anchor="t" lIns="0" rIns="0" tIns="0" bIns="0">
            <a:spAutoFit/>
          </a:bodyPr>
          <a:lstStyle/>
          <a:p>
            <a:pPr algn="l">
              <a:lnSpc>
                <a:spcPct val="100000"/>
              </a:lnSpc>
            </a:pPr>
            <a:r>
              <a:rPr sz="4600" b="1" i="0">
                <a:solidFill>
                  <a:srgbClr val="C69B52"/>
                </a:solidFill>
                <a:latin typeface="Georgia"/>
              </a:rPr>
              <a:t>03</a:t>
            </a:r>
          </a:p>
        </p:txBody>
      </p:sp>
      <p:sp>
        <p:nvSpPr>
          <p:cNvPr id="19" name="TextBox 18"/>
          <p:cNvSpPr txBox="1"/>
          <p:nvPr/>
        </p:nvSpPr>
        <p:spPr>
          <a:xfrm>
            <a:off x="8463076" y="4572000"/>
            <a:ext cx="2814218" cy="457200"/>
          </a:xfrm>
          <a:prstGeom prst="rect">
            <a:avLst/>
          </a:prstGeom>
          <a:noFill/>
        </p:spPr>
        <p:txBody>
          <a:bodyPr wrap="square" anchor="t" lIns="0" rIns="0" tIns="0" bIns="0">
            <a:spAutoFit/>
          </a:bodyPr>
          <a:lstStyle/>
          <a:p>
            <a:pPr algn="l">
              <a:lnSpc>
                <a:spcPct val="110000"/>
              </a:lnSpc>
            </a:pPr>
            <a:r>
              <a:rPr sz="1600" b="1" i="0">
                <a:solidFill>
                  <a:srgbClr val="FAF7F2"/>
                </a:solidFill>
                <a:latin typeface="Calibri"/>
              </a:rPr>
              <a:t>Shapes practice</a:t>
            </a:r>
          </a:p>
        </p:txBody>
      </p:sp>
      <p:sp>
        <p:nvSpPr>
          <p:cNvPr id="20" name="TextBox 19"/>
          <p:cNvSpPr txBox="1"/>
          <p:nvPr/>
        </p:nvSpPr>
        <p:spPr>
          <a:xfrm>
            <a:off x="8463076" y="5074920"/>
            <a:ext cx="2814218" cy="822960"/>
          </a:xfrm>
          <a:prstGeom prst="rect">
            <a:avLst/>
          </a:prstGeom>
          <a:noFill/>
        </p:spPr>
        <p:txBody>
          <a:bodyPr wrap="square" anchor="t" lIns="0" rIns="0" tIns="0" bIns="0">
            <a:spAutoFit/>
          </a:bodyPr>
          <a:lstStyle/>
          <a:p>
            <a:pPr algn="l">
              <a:lnSpc>
                <a:spcPct val="135000"/>
              </a:lnSpc>
            </a:pPr>
            <a:r>
              <a:rPr sz="1400" b="0" i="0">
                <a:solidFill>
                  <a:srgbClr val="D9CEBD"/>
                </a:solidFill>
                <a:latin typeface="Georgia"/>
              </a:rPr>
              <a:t>Identity that is sung becomes identity that is lived. Worship moves into work, family, and public witness the rest of the week.</a:t>
            </a:r>
          </a:p>
        </p:txBody>
      </p:sp>
      <p:sp>
        <p:nvSpPr>
          <p:cNvPr id="21" name="TextBox 20"/>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pPr>
            <a:r>
              <a:rPr sz="1000" b="0" i="0">
                <a:solidFill>
                  <a:srgbClr val="BFB8AB"/>
                </a:solidFill>
                <a:latin typeface="Calibri"/>
              </a:rPr>
              <a:t>I Know Who I Am  ·  Daniel Baglini</a:t>
            </a:r>
          </a:p>
        </p:txBody>
      </p:sp>
      <p:sp>
        <p:nvSpPr>
          <p:cNvPr id="22" name="TextBox 21"/>
          <p:cNvSpPr txBox="1"/>
          <p:nvPr/>
        </p:nvSpPr>
        <p:spPr>
          <a:xfrm>
            <a:off x="10698480" y="6446520"/>
            <a:ext cx="914400" cy="274320"/>
          </a:xfrm>
          <a:prstGeom prst="rect">
            <a:avLst/>
          </a:prstGeom>
          <a:noFill/>
        </p:spPr>
        <p:txBody>
          <a:bodyPr wrap="square" anchor="t" lIns="0" rIns="0" tIns="0" bIns="0">
            <a:spAutoFit/>
          </a:bodyPr>
          <a:lstStyle/>
          <a:p>
            <a:pPr algn="r">
              <a:lnSpc>
                <a:spcPct val="100000"/>
              </a:lnSpc>
            </a:pPr>
            <a:r>
              <a:rPr sz="1000" b="0" i="0">
                <a:solidFill>
                  <a:srgbClr val="BFB8AB"/>
                </a:solidFill>
                <a:latin typeface="Calibri"/>
              </a:rPr>
              <a:t>06 / 09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548640"/>
            <a:ext cx="10058400" cy="320040"/>
          </a:xfrm>
          <a:prstGeom prst="rect">
            <a:avLst/>
          </a:prstGeom>
          <a:noFill/>
        </p:spPr>
        <p:txBody>
          <a:bodyPr wrap="square" anchor="t" lIns="0" rIns="0" tIns="0" bIns="0">
            <a:spAutoFit/>
          </a:bodyPr>
          <a:lstStyle/>
          <a:p>
            <a:pPr algn="l">
              <a:lnSpc>
                <a:spcPct val="100000"/>
              </a:lnSpc>
            </a:pPr>
            <a:r>
              <a:rPr sz="1200" b="1" i="0">
                <a:solidFill>
                  <a:srgbClr val="8A4B2A"/>
                </a:solidFill>
                <a:latin typeface="Calibri"/>
              </a:rPr>
              <a:t>WHY IT MATTERS</a:t>
            </a:r>
          </a:p>
        </p:txBody>
      </p:sp>
      <p:sp>
        <p:nvSpPr>
          <p:cNvPr id="3" name="Rectangle 2"/>
          <p:cNvSpPr/>
          <p:nvPr/>
        </p:nvSpPr>
        <p:spPr>
          <a:xfrm>
            <a:off x="731520" y="868680"/>
            <a:ext cx="548640" cy="45720"/>
          </a:xfrm>
          <a:prstGeom prst="rect">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698480" cy="1280160"/>
          </a:xfrm>
          <a:prstGeom prst="rect">
            <a:avLst/>
          </a:prstGeom>
          <a:noFill/>
        </p:spPr>
        <p:txBody>
          <a:bodyPr wrap="square" anchor="t" lIns="0" rIns="0" tIns="0" bIns="0">
            <a:spAutoFit/>
          </a:bodyPr>
          <a:lstStyle/>
          <a:p>
            <a:pPr algn="l">
              <a:lnSpc>
                <a:spcPct val="105000"/>
              </a:lnSpc>
            </a:pPr>
            <a:r>
              <a:rPr sz="4000" b="1" i="0">
                <a:solidFill>
                  <a:srgbClr val="1B1A18"/>
                </a:solidFill>
                <a:latin typeface="Georgia"/>
              </a:rPr>
              <a:t>Belief moves into action.</a:t>
            </a:r>
          </a:p>
        </p:txBody>
      </p:sp>
      <p:sp>
        <p:nvSpPr>
          <p:cNvPr id="5" name="Oval 4"/>
          <p:cNvSpPr/>
          <p:nvPr/>
        </p:nvSpPr>
        <p:spPr>
          <a:xfrm>
            <a:off x="777240" y="285292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5176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Music is not the warm up. It can be the teaching.</a:t>
            </a:r>
          </a:p>
        </p:txBody>
      </p:sp>
      <p:sp>
        <p:nvSpPr>
          <p:cNvPr id="7" name="Oval 6"/>
          <p:cNvSpPr/>
          <p:nvPr/>
        </p:nvSpPr>
        <p:spPr>
          <a:xfrm>
            <a:off x="777240" y="372160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52044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Moral agency: words sung in public raise the floor for how we live.</a:t>
            </a:r>
          </a:p>
        </p:txBody>
      </p:sp>
      <p:sp>
        <p:nvSpPr>
          <p:cNvPr id="9" name="Oval 8"/>
          <p:cNvSpPr/>
          <p:nvPr/>
        </p:nvSpPr>
        <p:spPr>
          <a:xfrm>
            <a:off x="777240" y="459028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438912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Communal encouragement across geography, a shared confidence to carry.</a:t>
            </a:r>
          </a:p>
        </p:txBody>
      </p:sp>
      <p:sp>
        <p:nvSpPr>
          <p:cNvPr id="11" name="Oval 10"/>
          <p:cNvSpPr/>
          <p:nvPr/>
        </p:nvSpPr>
        <p:spPr>
          <a:xfrm>
            <a:off x="777240" y="5458968"/>
            <a:ext cx="109728" cy="109728"/>
          </a:xfrm>
          <a:prstGeom prst="ellipse">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5257800"/>
            <a:ext cx="10332720" cy="822960"/>
          </a:xfrm>
          <a:prstGeom prst="rect">
            <a:avLst/>
          </a:prstGeom>
          <a:noFill/>
        </p:spPr>
        <p:txBody>
          <a:bodyPr wrap="square" anchor="t" lIns="0" rIns="0" tIns="0" bIns="0">
            <a:spAutoFit/>
          </a:bodyPr>
          <a:lstStyle/>
          <a:p>
            <a:pPr algn="l">
              <a:lnSpc>
                <a:spcPct val="125000"/>
              </a:lnSpc>
            </a:pPr>
            <a:r>
              <a:rPr sz="2200" b="0" i="0">
                <a:solidFill>
                  <a:srgbClr val="3A3630"/>
                </a:solidFill>
                <a:latin typeface="Georgia"/>
              </a:rPr>
              <a:t>Public Christian witness: Sunday formation shows up on Monday.</a:t>
            </a:r>
          </a:p>
        </p:txBody>
      </p:sp>
      <p:sp>
        <p:nvSpPr>
          <p:cNvPr id="13" name="TextBox 12"/>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pPr>
            <a:r>
              <a:rPr sz="1000" b="0" i="0">
                <a:solidFill>
                  <a:srgbClr val="6B6358"/>
                </a:solidFill>
                <a:latin typeface="Calibri"/>
              </a:rPr>
              <a:t>I Know Who I Am  ·  Daniel Baglini</a:t>
            </a:r>
          </a:p>
        </p:txBody>
      </p:sp>
      <p:sp>
        <p:nvSpPr>
          <p:cNvPr id="14" name="TextBox 13"/>
          <p:cNvSpPr txBox="1"/>
          <p:nvPr/>
        </p:nvSpPr>
        <p:spPr>
          <a:xfrm>
            <a:off x="10698480" y="6446520"/>
            <a:ext cx="914400" cy="274320"/>
          </a:xfrm>
          <a:prstGeom prst="rect">
            <a:avLst/>
          </a:prstGeom>
          <a:noFill/>
        </p:spPr>
        <p:txBody>
          <a:bodyPr wrap="square" anchor="t" lIns="0" rIns="0" tIns="0" bIns="0">
            <a:spAutoFit/>
          </a:bodyPr>
          <a:lstStyle/>
          <a:p>
            <a:pPr algn="r">
              <a:lnSpc>
                <a:spcPct val="100000"/>
              </a:lnSpc>
            </a:pPr>
            <a:r>
              <a:rPr sz="1000" b="0" i="0">
                <a:solidFill>
                  <a:srgbClr val="6B6358"/>
                </a:solidFill>
                <a:latin typeface="Calibri"/>
              </a:rPr>
              <a:t>07 / 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A18"/>
        </a:solidFill>
        <a:effectLst/>
      </p:bgPr>
    </p:bg>
    <p:spTree>
      <p:nvGrpSpPr>
        <p:cNvPr id="1" name=""/>
        <p:cNvGrpSpPr/>
        <p:nvPr/>
      </p:nvGrpSpPr>
      <p:grpSpPr/>
      <p:sp>
        <p:nvSpPr>
          <p:cNvPr id="2" name="TextBox 1"/>
          <p:cNvSpPr txBox="1"/>
          <p:nvPr/>
        </p:nvSpPr>
        <p:spPr>
          <a:xfrm>
            <a:off x="731520" y="731520"/>
            <a:ext cx="10058400" cy="320040"/>
          </a:xfrm>
          <a:prstGeom prst="rect">
            <a:avLst/>
          </a:prstGeom>
          <a:noFill/>
        </p:spPr>
        <p:txBody>
          <a:bodyPr wrap="square" anchor="t" lIns="0" rIns="0" tIns="0" bIns="0">
            <a:spAutoFit/>
          </a:bodyPr>
          <a:lstStyle/>
          <a:p>
            <a:pPr algn="l">
              <a:lnSpc>
                <a:spcPct val="100000"/>
              </a:lnSpc>
            </a:pPr>
            <a:r>
              <a:rPr sz="1200" b="1" i="0">
                <a:solidFill>
                  <a:srgbClr val="C69B52"/>
                </a:solidFill>
                <a:latin typeface="Calibri"/>
              </a:rPr>
              <a:t>CONCLUSION</a:t>
            </a:r>
          </a:p>
        </p:txBody>
      </p:sp>
      <p:sp>
        <p:nvSpPr>
          <p:cNvPr id="3" name="TextBox 2"/>
          <p:cNvSpPr txBox="1"/>
          <p:nvPr/>
        </p:nvSpPr>
        <p:spPr>
          <a:xfrm>
            <a:off x="731520" y="1097280"/>
            <a:ext cx="10698480" cy="914400"/>
          </a:xfrm>
          <a:prstGeom prst="rect">
            <a:avLst/>
          </a:prstGeom>
          <a:noFill/>
        </p:spPr>
        <p:txBody>
          <a:bodyPr wrap="square" anchor="t" lIns="0" rIns="0" tIns="0" bIns="0">
            <a:spAutoFit/>
          </a:bodyPr>
          <a:lstStyle/>
          <a:p>
            <a:pPr algn="l">
              <a:lnSpc>
                <a:spcPct val="110000"/>
              </a:lnSpc>
            </a:pPr>
            <a:r>
              <a:rPr sz="3600" b="1" i="0">
                <a:solidFill>
                  <a:srgbClr val="FAF7F2"/>
                </a:solidFill>
                <a:latin typeface="Georgia"/>
              </a:rPr>
              <a:t>Faith formed, faith lived.</a:t>
            </a:r>
          </a:p>
        </p:txBody>
      </p:sp>
      <p:sp>
        <p:nvSpPr>
          <p:cNvPr id="4" name="TextBox 3"/>
          <p:cNvSpPr txBox="1"/>
          <p:nvPr/>
        </p:nvSpPr>
        <p:spPr>
          <a:xfrm>
            <a:off x="1097280" y="2560320"/>
            <a:ext cx="10058400" cy="3200400"/>
          </a:xfrm>
          <a:prstGeom prst="rect">
            <a:avLst/>
          </a:prstGeom>
          <a:noFill/>
        </p:spPr>
        <p:txBody>
          <a:bodyPr wrap="square" anchor="t" lIns="0" rIns="0" tIns="0" bIns="0">
            <a:spAutoFit/>
          </a:bodyPr>
          <a:lstStyle/>
          <a:p>
            <a:pPr algn="l">
              <a:lnSpc>
                <a:spcPct val="135000"/>
              </a:lnSpc>
            </a:pPr>
            <a:r>
              <a:rPr sz="2800" b="0" i="1">
                <a:solidFill>
                  <a:srgbClr val="FAF7F2"/>
                </a:solidFill>
                <a:latin typeface="Georgia"/>
              </a:rPr>
              <a:t>““I Know Who I Am” is practical theology set to a beat. It does not only express faith. It trains people to live it, and it sends them out to live it together.”</a:t>
            </a:r>
          </a:p>
        </p:txBody>
      </p:sp>
      <p:sp>
        <p:nvSpPr>
          <p:cNvPr id="5" name="Rectangle 4"/>
          <p:cNvSpPr/>
          <p:nvPr/>
        </p:nvSpPr>
        <p:spPr>
          <a:xfrm>
            <a:off x="1097280" y="5760720"/>
            <a:ext cx="548640" cy="36576"/>
          </a:xfrm>
          <a:prstGeom prst="rect">
            <a:avLst/>
          </a:prstGeom>
          <a:solidFill>
            <a:srgbClr val="C69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83080" y="5623560"/>
            <a:ext cx="7315200" cy="365760"/>
          </a:xfrm>
          <a:prstGeom prst="rect">
            <a:avLst/>
          </a:prstGeom>
          <a:noFill/>
        </p:spPr>
        <p:txBody>
          <a:bodyPr wrap="square" anchor="t" lIns="0" rIns="0" tIns="0" bIns="0">
            <a:spAutoFit/>
          </a:bodyPr>
          <a:lstStyle/>
          <a:p>
            <a:pPr algn="l">
              <a:lnSpc>
                <a:spcPct val="100000"/>
              </a:lnSpc>
            </a:pPr>
            <a:r>
              <a:rPr sz="1200" b="0" i="0">
                <a:solidFill>
                  <a:srgbClr val="BFB8AB"/>
                </a:solidFill>
                <a:latin typeface="Calibri"/>
              </a:rPr>
              <a:t>Thesis close  ·  Daniel Baglini</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pPr>
            <a:r>
              <a:rPr sz="1000" b="0" i="0">
                <a:solidFill>
                  <a:srgbClr val="BFB8AB"/>
                </a:solidFill>
                <a:latin typeface="Calibri"/>
              </a:rPr>
              <a:t>I Know Who I Am  ·  Daniel Baglini</a:t>
            </a:r>
          </a:p>
        </p:txBody>
      </p:sp>
      <p:sp>
        <p:nvSpPr>
          <p:cNvPr id="8" name="TextBox 7"/>
          <p:cNvSpPr txBox="1"/>
          <p:nvPr/>
        </p:nvSpPr>
        <p:spPr>
          <a:xfrm>
            <a:off x="10698480" y="6446520"/>
            <a:ext cx="914400" cy="274320"/>
          </a:xfrm>
          <a:prstGeom prst="rect">
            <a:avLst/>
          </a:prstGeom>
          <a:noFill/>
        </p:spPr>
        <p:txBody>
          <a:bodyPr wrap="square" anchor="t" lIns="0" rIns="0" tIns="0" bIns="0">
            <a:spAutoFit/>
          </a:bodyPr>
          <a:lstStyle/>
          <a:p>
            <a:pPr algn="r">
              <a:lnSpc>
                <a:spcPct val="100000"/>
              </a:lnSpc>
            </a:pPr>
            <a:r>
              <a:rPr sz="1000" b="0" i="0">
                <a:solidFill>
                  <a:srgbClr val="BFB8AB"/>
                </a:solidFill>
                <a:latin typeface="Calibri"/>
              </a:rPr>
              <a:t>08 / 09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548640"/>
            <a:ext cx="10058400" cy="320040"/>
          </a:xfrm>
          <a:prstGeom prst="rect">
            <a:avLst/>
          </a:prstGeom>
          <a:noFill/>
        </p:spPr>
        <p:txBody>
          <a:bodyPr wrap="square" anchor="t" lIns="0" rIns="0" tIns="0" bIns="0">
            <a:spAutoFit/>
          </a:bodyPr>
          <a:lstStyle/>
          <a:p>
            <a:pPr algn="l">
              <a:lnSpc>
                <a:spcPct val="100000"/>
              </a:lnSpc>
            </a:pPr>
            <a:r>
              <a:rPr sz="1200" b="1" i="0">
                <a:solidFill>
                  <a:srgbClr val="8A4B2A"/>
                </a:solidFill>
                <a:latin typeface="Calibri"/>
              </a:rPr>
              <a:t>BIBLIOGRAPHY</a:t>
            </a:r>
          </a:p>
        </p:txBody>
      </p:sp>
      <p:sp>
        <p:nvSpPr>
          <p:cNvPr id="3" name="Rectangle 2"/>
          <p:cNvSpPr/>
          <p:nvPr/>
        </p:nvSpPr>
        <p:spPr>
          <a:xfrm>
            <a:off x="731520" y="868680"/>
            <a:ext cx="548640" cy="45720"/>
          </a:xfrm>
          <a:prstGeom prst="rect">
            <a:avLst/>
          </a:prstGeom>
          <a:solidFill>
            <a:srgbClr val="8A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058400" cy="1097280"/>
          </a:xfrm>
          <a:prstGeom prst="rect">
            <a:avLst/>
          </a:prstGeom>
          <a:noFill/>
        </p:spPr>
        <p:txBody>
          <a:bodyPr wrap="square" anchor="t" lIns="0" rIns="0" tIns="0" bIns="0">
            <a:spAutoFit/>
          </a:bodyPr>
          <a:lstStyle/>
          <a:p>
            <a:pPr algn="l">
              <a:lnSpc>
                <a:spcPct val="105000"/>
              </a:lnSpc>
            </a:pPr>
            <a:r>
              <a:rPr sz="4000" b="1" i="0">
                <a:solidFill>
                  <a:srgbClr val="1B1A18"/>
                </a:solidFill>
                <a:latin typeface="Georgia"/>
              </a:rPr>
              <a:t>Sources</a:t>
            </a:r>
          </a:p>
        </p:txBody>
      </p:sp>
      <p:sp>
        <p:nvSpPr>
          <p:cNvPr id="5" name="TextBox 4"/>
          <p:cNvSpPr txBox="1"/>
          <p:nvPr/>
        </p:nvSpPr>
        <p:spPr>
          <a:xfrm>
            <a:off x="731520" y="2331720"/>
            <a:ext cx="10698480" cy="3977639"/>
          </a:xfrm>
          <a:prstGeom prst="rect">
            <a:avLst/>
          </a:prstGeom>
          <a:noFill/>
        </p:spPr>
        <p:txBody>
          <a:bodyPr wrap="square">
            <a:spAutoFit/>
          </a:bodyPr>
          <a:lstStyle/>
          <a:p>
            <a:pPr algn="l">
              <a:lnSpc>
                <a:spcPct val="125000"/>
              </a:lnSpc>
              <a:spcAft>
                <a:spcPts val="600"/>
              </a:spcAft>
            </a:pPr>
            <a:r>
              <a:rPr sz="1200" b="1">
                <a:solidFill>
                  <a:srgbClr val="8A4B2A"/>
                </a:solidFill>
                <a:latin typeface="Calibri"/>
              </a:rPr>
              <a:t>1.  </a:t>
            </a:r>
            <a:r>
              <a:rPr sz="1300">
                <a:solidFill>
                  <a:srgbClr val="3A3630"/>
                </a:solidFill>
                <a:latin typeface="Georgia"/>
              </a:rPr>
              <a:t>Ajose, Toyin Samuel. “Liturgical traditions and transitions: Congregational hymn singing in Nigerian Pentecostal churches.” Journal of the Association of Nigerian Musicologists, 2025.</a:t>
            </a:r>
          </a:p>
          <a:p>
            <a:pPr algn="l">
              <a:lnSpc>
                <a:spcPct val="125000"/>
              </a:lnSpc>
              <a:spcAft>
                <a:spcPts val="600"/>
              </a:spcAft>
            </a:pPr>
            <a:r>
              <a:rPr sz="1200" b="1">
                <a:solidFill>
                  <a:srgbClr val="8A4B2A"/>
                </a:solidFill>
                <a:latin typeface="Calibri"/>
              </a:rPr>
              <a:t>2.  </a:t>
            </a:r>
            <a:r>
              <a:rPr sz="1300">
                <a:solidFill>
                  <a:srgbClr val="3A3630"/>
                </a:solidFill>
                <a:latin typeface="Georgia"/>
              </a:rPr>
              <a:t>Ajose, Toyin Samuel. “‘Me I no go suffer’: Christian songs and prosperity gospel among Yoruba Pentecostals in Southwest Nigeria.”</a:t>
            </a:r>
          </a:p>
          <a:p>
            <a:pPr algn="l">
              <a:lnSpc>
                <a:spcPct val="125000"/>
              </a:lnSpc>
              <a:spcAft>
                <a:spcPts val="600"/>
              </a:spcAft>
            </a:pPr>
            <a:r>
              <a:rPr sz="1200" b="1">
                <a:solidFill>
                  <a:srgbClr val="8A4B2A"/>
                </a:solidFill>
                <a:latin typeface="Calibri"/>
              </a:rPr>
              <a:t>3.  </a:t>
            </a:r>
            <a:r>
              <a:rPr sz="1300">
                <a:solidFill>
                  <a:srgbClr val="3A3630"/>
                </a:solidFill>
                <a:latin typeface="Georgia"/>
              </a:rPr>
              <a:t>Ayodeji, Oluwafemi Emmanuel. Ecstasy, Holiness and Spiritual Warfare: Yorùbá Pentecostal Music Experience. Durham University, 2019.</a:t>
            </a:r>
          </a:p>
          <a:p>
            <a:pPr algn="l">
              <a:lnSpc>
                <a:spcPct val="125000"/>
              </a:lnSpc>
              <a:spcAft>
                <a:spcPts val="600"/>
              </a:spcAft>
            </a:pPr>
            <a:r>
              <a:rPr sz="1200" b="1">
                <a:solidFill>
                  <a:srgbClr val="8A4B2A"/>
                </a:solidFill>
                <a:latin typeface="Calibri"/>
              </a:rPr>
              <a:t>4.  </a:t>
            </a:r>
            <a:r>
              <a:rPr sz="1300">
                <a:solidFill>
                  <a:srgbClr val="3A3630"/>
                </a:solidFill>
                <a:latin typeface="Georgia"/>
              </a:rPr>
              <a:t>Rotimi, Oti Alaba. “The Role of Music in African Pentecostal Churches in Southwestern Nigeria.”</a:t>
            </a:r>
          </a:p>
          <a:p>
            <a:pPr algn="l">
              <a:lnSpc>
                <a:spcPct val="125000"/>
              </a:lnSpc>
              <a:spcAft>
                <a:spcPts val="600"/>
              </a:spcAft>
            </a:pPr>
            <a:r>
              <a:rPr sz="1200" b="1">
                <a:solidFill>
                  <a:srgbClr val="8A4B2A"/>
                </a:solidFill>
                <a:latin typeface="Calibri"/>
              </a:rPr>
              <a:t>5.  </a:t>
            </a:r>
            <a:r>
              <a:rPr sz="1300">
                <a:solidFill>
                  <a:srgbClr val="3A3630"/>
                </a:solidFill>
                <a:latin typeface="Georgia"/>
              </a:rPr>
              <a:t>Sinach. “I Know Who I Am.” Official music video, 2014. YouTube.</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pPr>
            <a:r>
              <a:rPr sz="1000" b="0" i="0">
                <a:solidFill>
                  <a:srgbClr val="6B6358"/>
                </a:solidFill>
                <a:latin typeface="Calibri"/>
              </a:rPr>
              <a:t>I Know Who I Am  ·  Daniel Baglini</a:t>
            </a:r>
          </a:p>
        </p:txBody>
      </p:sp>
      <p:sp>
        <p:nvSpPr>
          <p:cNvPr id="7" name="TextBox 6"/>
          <p:cNvSpPr txBox="1"/>
          <p:nvPr/>
        </p:nvSpPr>
        <p:spPr>
          <a:xfrm>
            <a:off x="10698480" y="6446520"/>
            <a:ext cx="914400" cy="274320"/>
          </a:xfrm>
          <a:prstGeom prst="rect">
            <a:avLst/>
          </a:prstGeom>
          <a:noFill/>
        </p:spPr>
        <p:txBody>
          <a:bodyPr wrap="square" anchor="t" lIns="0" rIns="0" tIns="0" bIns="0">
            <a:spAutoFit/>
          </a:bodyPr>
          <a:lstStyle/>
          <a:p>
            <a:pPr algn="r">
              <a:lnSpc>
                <a:spcPct val="100000"/>
              </a:lnSpc>
            </a:pPr>
            <a:r>
              <a:rPr sz="1000" b="0" i="0">
                <a:solidFill>
                  <a:srgbClr val="6B6358"/>
                </a:solidFill>
                <a:latin typeface="Calibri"/>
              </a:rPr>
              <a:t>09 / 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